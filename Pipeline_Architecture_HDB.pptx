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3" r:id="rId4"/>
    <p:sldId id="269" r:id="rId5"/>
    <p:sldId id="270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6287"/>
    <a:srgbClr val="333333"/>
    <a:srgbClr val="DA291C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D8E502-340C-4594-8325-8DE2F36B341F}" v="814" dt="2026-05-01T00:37:44.715"/>
    <p1510:client id="{8BB1E74A-F467-47AA-8EB9-805434BE756C}" v="763" dt="2026-05-01T07:14:38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5927 1279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01T00:22:5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1023 7400 16383 0 0,'0'0'0'0'0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B24C9C-68C9-264C-056E-75CB5C1139ED}"/>
              </a:ext>
            </a:extLst>
          </p:cNvPr>
          <p:cNvSpPr/>
          <p:nvPr/>
        </p:nvSpPr>
        <p:spPr>
          <a:xfrm>
            <a:off x="11174" y="-1199"/>
            <a:ext cx="12182003" cy="68874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5906" y="2563020"/>
            <a:ext cx="9144000" cy="238760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5400" b="1">
                <a:solidFill>
                  <a:srgbClr val="FF0000"/>
                </a:solidFill>
                <a:ea typeface="+mj-lt"/>
                <a:cs typeface="+mj-lt"/>
              </a:rPr>
              <a:t>HDB Data Engineering Project</a:t>
            </a:r>
            <a:br>
              <a:rPr lang="en-US" sz="5400" b="1" dirty="0">
                <a:ea typeface="+mj-lt"/>
                <a:cs typeface="+mj-lt"/>
              </a:rPr>
            </a:b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7" y="4709320"/>
            <a:ext cx="12191998" cy="17391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>
                <a:latin typeface="Aptos Display"/>
              </a:rPr>
              <a:t>Architecture Design </a:t>
            </a:r>
            <a:r>
              <a:rPr lang="en-US" sz="4000" b="1" dirty="0">
                <a:latin typeface="Aptos Display"/>
              </a:rPr>
              <a:t>(Data Ingestion &amp; Exploitation)</a:t>
            </a:r>
            <a:endParaRPr lang="en-US" sz="4000"/>
          </a:p>
        </p:txBody>
      </p:sp>
      <p:pic>
        <p:nvPicPr>
          <p:cNvPr id="7" name="Picture 6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F46F5A1B-857C-47C0-3A18-4F6F18BF7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473" y="1113610"/>
            <a:ext cx="4178951" cy="1201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3F1242-0A48-8807-B2AA-41098AF2C17B}"/>
              </a:ext>
            </a:extLst>
          </p:cNvPr>
          <p:cNvSpPr/>
          <p:nvPr/>
        </p:nvSpPr>
        <p:spPr>
          <a:xfrm>
            <a:off x="-6662" y="4887"/>
            <a:ext cx="12182003" cy="68874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6DB5D-3871-C344-A95C-871202A0B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402"/>
            <a:ext cx="10515600" cy="52725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2400" b="1" dirty="0">
                <a:solidFill>
                  <a:srgbClr val="DA291C"/>
                </a:solidFill>
                <a:latin typeface="Aptos"/>
                <a:ea typeface="+mj-ea"/>
                <a:cs typeface="+mj-cs"/>
              </a:rPr>
              <a:t>Objective: </a:t>
            </a:r>
          </a:p>
          <a:p>
            <a:pPr>
              <a:spcBef>
                <a:spcPct val="0"/>
              </a:spcBef>
            </a:pPr>
            <a:r>
              <a:rPr lang="en-US">
                <a:solidFill>
                  <a:srgbClr val="333333"/>
                </a:solidFill>
                <a:latin typeface="Aptos"/>
              </a:rPr>
              <a:t>Operationalize</a:t>
            </a:r>
            <a:r>
              <a:rPr lang="en-US" dirty="0">
                <a:solidFill>
                  <a:srgbClr val="333333"/>
                </a:solidFill>
                <a:latin typeface="Aptos"/>
              </a:rPr>
              <a:t> data pipeline on AWS </a:t>
            </a:r>
          </a:p>
          <a:p>
            <a:pPr>
              <a:spcBef>
                <a:spcPct val="0"/>
              </a:spcBef>
            </a:pPr>
            <a:r>
              <a:rPr lang="en-US">
                <a:solidFill>
                  <a:srgbClr val="333333"/>
                </a:solidFill>
                <a:latin typeface="Aptos"/>
              </a:rPr>
              <a:t>Support end-to-end data flow from ingestion to analytics </a:t>
            </a:r>
            <a:endParaRPr lang="en-US" dirty="0">
              <a:solidFill>
                <a:srgbClr val="333333"/>
              </a:solidFill>
              <a:latin typeface="Aptos"/>
            </a:endParaRPr>
          </a:p>
          <a:p>
            <a:pPr>
              <a:spcBef>
                <a:spcPct val="0"/>
              </a:spcBef>
            </a:pPr>
            <a:r>
              <a:rPr lang="en-US">
                <a:solidFill>
                  <a:srgbClr val="333333"/>
                </a:solidFill>
                <a:latin typeface="Aptos"/>
              </a:rPr>
              <a:t>Ensure Security, Scalability, Performance</a:t>
            </a:r>
          </a:p>
          <a:p>
            <a:pPr marL="0" indent="0">
              <a:spcBef>
                <a:spcPct val="0"/>
              </a:spcBef>
              <a:buNone/>
            </a:pPr>
            <a:endParaRPr lang="en-US" sz="4000" dirty="0">
              <a:latin typeface="Aptos"/>
            </a:endParaRPr>
          </a:p>
          <a:p>
            <a:pPr marL="0" indent="0">
              <a:spcBef>
                <a:spcPct val="0"/>
              </a:spcBef>
              <a:buNone/>
            </a:pPr>
            <a:r>
              <a:rPr lang="en-US" sz="2400" b="1">
                <a:solidFill>
                  <a:srgbClr val="DA291C"/>
                </a:solidFill>
                <a:latin typeface="Aptos"/>
                <a:ea typeface="+mj-ea"/>
                <a:cs typeface="+mj-cs"/>
              </a:rPr>
              <a:t>Architecture Overview</a:t>
            </a:r>
          </a:p>
          <a:p>
            <a:pPr marL="0" indent="0">
              <a:spcBef>
                <a:spcPct val="0"/>
              </a:spcBef>
              <a:buNone/>
            </a:pPr>
            <a:r>
              <a:rPr lang="en-US" sz="2400" b="1">
                <a:solidFill>
                  <a:srgbClr val="DA291C"/>
                </a:solidFill>
                <a:latin typeface="Aptos"/>
                <a:ea typeface="+mj-ea"/>
                <a:cs typeface="+mj-cs"/>
              </a:rPr>
              <a:t>End To End Flow</a:t>
            </a:r>
          </a:p>
          <a:p>
            <a:pPr marL="0" indent="0">
              <a:buNone/>
            </a:pPr>
            <a:r>
              <a:rPr lang="en-US">
                <a:solidFill>
                  <a:srgbClr val="333333"/>
                </a:solidFill>
                <a:latin typeface="Aptos"/>
              </a:rPr>
              <a:t>data.gov.sg → Glue → S3 (Raw) → Glue → S3 (Processed)→ Glue Catalog → Tableau → Athena </a:t>
            </a:r>
          </a:p>
          <a:p>
            <a:endParaRPr lang="en-US" dirty="0">
              <a:latin typeface="Aptos"/>
            </a:endParaRPr>
          </a:p>
          <a:p>
            <a:pPr>
              <a:spcBef>
                <a:spcPct val="0"/>
              </a:spcBef>
            </a:pPr>
            <a:endParaRPr lang="en-US" sz="4000" dirty="0">
              <a:latin typeface="Aptos Display"/>
            </a:endParaRP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F031B0E-AE30-CC20-1C1C-33780CF6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12" y="1185"/>
            <a:ext cx="10515600" cy="722787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DA291C"/>
                </a:solidFill>
                <a:latin typeface="Aptos"/>
              </a:rPr>
              <a:t>Background</a:t>
            </a:r>
          </a:p>
        </p:txBody>
      </p:sp>
      <p:pic>
        <p:nvPicPr>
          <p:cNvPr id="4" name="Picture 3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08A12049-EEB0-A0E6-46D0-D1748688D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8786" y="6327"/>
            <a:ext cx="2619233" cy="76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464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6427A7B-3608-6D6D-978E-05C6F6ADE0D8}"/>
              </a:ext>
            </a:extLst>
          </p:cNvPr>
          <p:cNvSpPr/>
          <p:nvPr/>
        </p:nvSpPr>
        <p:spPr>
          <a:xfrm>
            <a:off x="-6662" y="4887"/>
            <a:ext cx="12182003" cy="68874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51B84B-67CC-59B4-FA61-B66A40413427}"/>
              </a:ext>
            </a:extLst>
          </p:cNvPr>
          <p:cNvSpPr/>
          <p:nvPr/>
        </p:nvSpPr>
        <p:spPr>
          <a:xfrm>
            <a:off x="8429624" y="5244041"/>
            <a:ext cx="3561291" cy="141287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1AA52B-F20C-02C6-2DC0-C260A81AF0C9}"/>
              </a:ext>
            </a:extLst>
          </p:cNvPr>
          <p:cNvSpPr/>
          <p:nvPr/>
        </p:nvSpPr>
        <p:spPr>
          <a:xfrm>
            <a:off x="116415" y="656166"/>
            <a:ext cx="3222625" cy="179387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A6B91F-49EE-00FD-2C49-FA29DF0E394B}"/>
              </a:ext>
            </a:extLst>
          </p:cNvPr>
          <p:cNvSpPr/>
          <p:nvPr/>
        </p:nvSpPr>
        <p:spPr>
          <a:xfrm>
            <a:off x="3455458" y="926041"/>
            <a:ext cx="4476750" cy="5773208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C2776F-2437-746B-CDD1-16126F9FB390}"/>
              </a:ext>
            </a:extLst>
          </p:cNvPr>
          <p:cNvSpPr txBox="1"/>
          <p:nvPr/>
        </p:nvSpPr>
        <p:spPr>
          <a:xfrm>
            <a:off x="126343" y="875772"/>
            <a:ext cx="297379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data.gov.sg (Public API)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47C73-6864-9864-D655-FA2CB85223FD}"/>
              </a:ext>
            </a:extLst>
          </p:cNvPr>
          <p:cNvSpPr/>
          <p:nvPr/>
        </p:nvSpPr>
        <p:spPr>
          <a:xfrm>
            <a:off x="240377" y="771261"/>
            <a:ext cx="2863334" cy="6053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07E5A-D793-DD6D-CD5C-73EEC1236DF5}"/>
              </a:ext>
            </a:extLst>
          </p:cNvPr>
          <p:cNvSpPr txBox="1"/>
          <p:nvPr/>
        </p:nvSpPr>
        <p:spPr>
          <a:xfrm>
            <a:off x="36726" y="791705"/>
            <a:ext cx="327621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Data Source </a:t>
            </a:r>
            <a:r>
              <a:rPr lang="en-US" sz="1600">
                <a:ea typeface="+mn-lt"/>
                <a:cs typeface="+mn-lt"/>
              </a:rPr>
              <a:t>data.gov.sg (Public API) </a:t>
            </a:r>
            <a:endParaRPr lang="en-US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0D9015-895E-D017-B9BA-6D834BCAA06F}"/>
              </a:ext>
            </a:extLst>
          </p:cNvPr>
          <p:cNvSpPr/>
          <p:nvPr/>
        </p:nvSpPr>
        <p:spPr>
          <a:xfrm>
            <a:off x="265279" y="1706331"/>
            <a:ext cx="2863333" cy="6053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E-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CC3F20-DFF5-9768-48BA-DDBC81AD0FC9}"/>
              </a:ext>
            </a:extLst>
          </p:cNvPr>
          <p:cNvSpPr txBox="1"/>
          <p:nvPr/>
        </p:nvSpPr>
        <p:spPr>
          <a:xfrm>
            <a:off x="89022" y="1834254"/>
            <a:ext cx="324261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NAT Gateway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25F21EAB-AD7B-484A-4AE9-7A3693A045A5}"/>
                  </a:ext>
                </a:extLst>
              </p14:cNvPr>
              <p14:cNvContentPartPr/>
              <p14:nvPr/>
            </p14:nvContentPartPr>
            <p14:xfrm>
              <a:off x="-39221" y="2156511"/>
              <a:ext cx="16808" cy="16808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25F21EAB-AD7B-484A-4AE9-7A3693A045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59421" y="1736311"/>
                <a:ext cx="840400" cy="8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A32C807-FC82-43BC-7658-6D44936D0FE7}"/>
                  </a:ext>
                </a:extLst>
              </p14:cNvPr>
              <p14:cNvContentPartPr/>
              <p14:nvPr/>
            </p14:nvContentPartPr>
            <p14:xfrm>
              <a:off x="-1820955" y="4129368"/>
              <a:ext cx="16808" cy="16808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A32C807-FC82-43BC-7658-6D44936D0F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241155" y="3709168"/>
                <a:ext cx="840400" cy="840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63985C2-3DFC-9058-325A-A7DF88FE07F4}"/>
              </a:ext>
            </a:extLst>
          </p:cNvPr>
          <p:cNvSpPr/>
          <p:nvPr/>
        </p:nvSpPr>
        <p:spPr>
          <a:xfrm>
            <a:off x="4170528" y="1685163"/>
            <a:ext cx="2863333" cy="6053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AAWE-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F4A350-BC44-76FA-E739-68DDF318613D}"/>
              </a:ext>
            </a:extLst>
          </p:cNvPr>
          <p:cNvSpPr/>
          <p:nvPr/>
        </p:nvSpPr>
        <p:spPr>
          <a:xfrm>
            <a:off x="4170528" y="2764663"/>
            <a:ext cx="2863333" cy="6053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E-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8B94DE-5B98-CDDA-DBB0-3309D840A65A}"/>
              </a:ext>
            </a:extLst>
          </p:cNvPr>
          <p:cNvSpPr/>
          <p:nvPr/>
        </p:nvSpPr>
        <p:spPr>
          <a:xfrm>
            <a:off x="4170528" y="3695996"/>
            <a:ext cx="2863333" cy="6053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E-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24D60F-A91A-ACA6-CF81-5F3BD8F79BD5}"/>
              </a:ext>
            </a:extLst>
          </p:cNvPr>
          <p:cNvSpPr/>
          <p:nvPr/>
        </p:nvSpPr>
        <p:spPr>
          <a:xfrm>
            <a:off x="4170528" y="4659080"/>
            <a:ext cx="2863333" cy="6053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E-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018F84-4D2F-9BDA-911C-28532F7E85A7}"/>
              </a:ext>
            </a:extLst>
          </p:cNvPr>
          <p:cNvSpPr/>
          <p:nvPr/>
        </p:nvSpPr>
        <p:spPr>
          <a:xfrm>
            <a:off x="4170528" y="5696247"/>
            <a:ext cx="2863333" cy="6053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TE-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890547-EF57-EE0F-2A85-3DC6A18AF926}"/>
              </a:ext>
            </a:extLst>
          </p:cNvPr>
          <p:cNvSpPr txBox="1"/>
          <p:nvPr/>
        </p:nvSpPr>
        <p:spPr>
          <a:xfrm>
            <a:off x="4318000" y="1793874"/>
            <a:ext cx="257175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AWS Glue (Ingestion)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DC010A-FBA2-0E7F-60B8-C517064E64F4}"/>
              </a:ext>
            </a:extLst>
          </p:cNvPr>
          <p:cNvSpPr txBox="1"/>
          <p:nvPr/>
        </p:nvSpPr>
        <p:spPr>
          <a:xfrm>
            <a:off x="4397374" y="2889250"/>
            <a:ext cx="242887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/>
              <a:t>S3 </a:t>
            </a:r>
            <a:r>
              <a:rPr lang="en-US" sz="1600" dirty="0" err="1"/>
              <a:t>Rawdata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7CDB3B-B26A-8F0F-D08C-4B901944B85D}"/>
              </a:ext>
            </a:extLst>
          </p:cNvPr>
          <p:cNvSpPr txBox="1"/>
          <p:nvPr/>
        </p:nvSpPr>
        <p:spPr>
          <a:xfrm>
            <a:off x="4286250" y="3825875"/>
            <a:ext cx="26035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AWS Transformation</a:t>
            </a: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5A8AE4-7F94-A65E-23BD-F02D99DCB78F}"/>
              </a:ext>
            </a:extLst>
          </p:cNvPr>
          <p:cNvSpPr txBox="1"/>
          <p:nvPr/>
        </p:nvSpPr>
        <p:spPr>
          <a:xfrm>
            <a:off x="4365625" y="4762500"/>
            <a:ext cx="2540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Amazon S3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448043-5ACB-CB87-BCFB-97861FA87F60}"/>
              </a:ext>
            </a:extLst>
          </p:cNvPr>
          <p:cNvSpPr txBox="1"/>
          <p:nvPr/>
        </p:nvSpPr>
        <p:spPr>
          <a:xfrm>
            <a:off x="4460874" y="5794374"/>
            <a:ext cx="236537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Tableau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6D426F-0863-F9B0-D685-6CD08CE20BD7}"/>
              </a:ext>
            </a:extLst>
          </p:cNvPr>
          <p:cNvSpPr/>
          <p:nvPr/>
        </p:nvSpPr>
        <p:spPr>
          <a:xfrm>
            <a:off x="8763694" y="5653913"/>
            <a:ext cx="2863333" cy="6053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TE-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4729F4-A578-D14D-42D5-D4C7A69A1417}"/>
              </a:ext>
            </a:extLst>
          </p:cNvPr>
          <p:cNvSpPr txBox="1"/>
          <p:nvPr/>
        </p:nvSpPr>
        <p:spPr>
          <a:xfrm>
            <a:off x="8905875" y="5767917"/>
            <a:ext cx="26035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Amazon Athena</a:t>
            </a:r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A247A67-0FE2-F563-14A4-4F18C598BF63}"/>
              </a:ext>
            </a:extLst>
          </p:cNvPr>
          <p:cNvSpPr/>
          <p:nvPr/>
        </p:nvSpPr>
        <p:spPr>
          <a:xfrm>
            <a:off x="1529291" y="1418167"/>
            <a:ext cx="174625" cy="28575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E6155C4-7563-A0C3-D2CB-069CF6956D07}"/>
              </a:ext>
            </a:extLst>
          </p:cNvPr>
          <p:cNvSpPr/>
          <p:nvPr/>
        </p:nvSpPr>
        <p:spPr>
          <a:xfrm>
            <a:off x="5466290" y="2285999"/>
            <a:ext cx="269875" cy="476249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1A5C7150-2CA8-2B00-DFC6-C7828EFEAC18}"/>
              </a:ext>
            </a:extLst>
          </p:cNvPr>
          <p:cNvSpPr/>
          <p:nvPr/>
        </p:nvSpPr>
        <p:spPr>
          <a:xfrm>
            <a:off x="5466289" y="3365498"/>
            <a:ext cx="238125" cy="338666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8CFCA82-E243-7814-C9FA-3410C9DBF5AD}"/>
              </a:ext>
            </a:extLst>
          </p:cNvPr>
          <p:cNvSpPr/>
          <p:nvPr/>
        </p:nvSpPr>
        <p:spPr>
          <a:xfrm>
            <a:off x="5487455" y="4317997"/>
            <a:ext cx="238125" cy="338666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11A19754-3821-8F8A-B2D9-C26CF46DF189}"/>
              </a:ext>
            </a:extLst>
          </p:cNvPr>
          <p:cNvSpPr/>
          <p:nvPr/>
        </p:nvSpPr>
        <p:spPr>
          <a:xfrm>
            <a:off x="5476873" y="5259914"/>
            <a:ext cx="269875" cy="433916"/>
          </a:xfrm>
          <a:prstGeom prst="down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6203CBC-63AC-A051-80DD-8C4E60676873}"/>
              </a:ext>
            </a:extLst>
          </p:cNvPr>
          <p:cNvSpPr/>
          <p:nvPr/>
        </p:nvSpPr>
        <p:spPr>
          <a:xfrm>
            <a:off x="3143249" y="1873249"/>
            <a:ext cx="1031875" cy="26987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67C55EC-13AF-88D8-8515-19EBEF124FA8}"/>
              </a:ext>
            </a:extLst>
          </p:cNvPr>
          <p:cNvSpPr/>
          <p:nvPr/>
        </p:nvSpPr>
        <p:spPr>
          <a:xfrm>
            <a:off x="7037915" y="5820831"/>
            <a:ext cx="1730375" cy="31220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4FB4B8CB-D589-4CF4-3D4A-F01C743BC6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8786" y="6327"/>
            <a:ext cx="2619233" cy="760721"/>
          </a:xfrm>
          <a:prstGeom prst="rect">
            <a:avLst/>
          </a:prstGeom>
        </p:spPr>
      </p:pic>
      <p:sp>
        <p:nvSpPr>
          <p:cNvPr id="34" name="Title 4">
            <a:extLst>
              <a:ext uri="{FF2B5EF4-FFF2-40B4-BE49-F238E27FC236}">
                <a16:creationId xmlns:a16="http://schemas.microsoft.com/office/drawing/2014/main" id="{5EF3DE70-BCB5-FC15-FF79-78B9794645D0}"/>
              </a:ext>
            </a:extLst>
          </p:cNvPr>
          <p:cNvSpPr txBox="1">
            <a:spLocks/>
          </p:cNvSpPr>
          <p:nvPr/>
        </p:nvSpPr>
        <p:spPr>
          <a:xfrm>
            <a:off x="-3412" y="1185"/>
            <a:ext cx="10515600" cy="500537"/>
          </a:xfrm>
          <a:prstGeom prst="rect">
            <a:avLst/>
          </a:prstGeom>
        </p:spPr>
        <p:txBody>
          <a:bodyPr lIns="91440" tIns="45720" rIns="91440" bIns="4572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solidFill>
                  <a:srgbClr val="DA291C"/>
                </a:solidFill>
                <a:latin typeface="Aptos"/>
              </a:rPr>
              <a:t>Architecture Diagram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50F297-3479-E3FA-915A-3CAD2098F158}"/>
              </a:ext>
            </a:extLst>
          </p:cNvPr>
          <p:cNvSpPr txBox="1"/>
          <p:nvPr/>
        </p:nvSpPr>
        <p:spPr>
          <a:xfrm>
            <a:off x="3984625" y="1079500"/>
            <a:ext cx="352425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C00000"/>
                </a:solidFill>
              </a:rPr>
              <a:t>AWS Virtual Private Cloud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0679A5-0AC5-4AEF-5917-7CA89D49D0E6}"/>
              </a:ext>
            </a:extLst>
          </p:cNvPr>
          <p:cNvSpPr txBox="1"/>
          <p:nvPr/>
        </p:nvSpPr>
        <p:spPr>
          <a:xfrm>
            <a:off x="8471958" y="5291666"/>
            <a:ext cx="352425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C00000"/>
                </a:solidFill>
              </a:rPr>
              <a:t>AWS Query Service</a:t>
            </a:r>
            <a:endParaRPr lang="en-US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568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CBAD9-AD33-B121-1B26-083CAD7A7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E91811-34C5-5868-0EE5-8315C18D654F}"/>
              </a:ext>
            </a:extLst>
          </p:cNvPr>
          <p:cNvSpPr/>
          <p:nvPr/>
        </p:nvSpPr>
        <p:spPr>
          <a:xfrm>
            <a:off x="11174" y="-1199"/>
            <a:ext cx="12182003" cy="68874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B13C169E-AE67-1082-D9B2-FC019BF9C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871" y="-6645"/>
            <a:ext cx="1531147" cy="504827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133F53-D353-49B6-9AF4-125797B75170}"/>
              </a:ext>
            </a:extLst>
          </p:cNvPr>
          <p:cNvSpPr/>
          <p:nvPr/>
        </p:nvSpPr>
        <p:spPr>
          <a:xfrm>
            <a:off x="222353" y="655200"/>
            <a:ext cx="5304699" cy="257312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DA291C"/>
                </a:solidFill>
                <a:latin typeface="Aptos"/>
                <a:ea typeface="+mj-ea"/>
                <a:cs typeface="+mj-cs"/>
              </a:rPr>
              <a:t>Data Ingestion Design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b="1"/>
              <a:t>B</a:t>
            </a:r>
            <a:r>
              <a:rPr lang="en-US"/>
              <a:t>atch ingestion from data.gov.sg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Scheduled using </a:t>
            </a:r>
            <a:r>
              <a:rPr lang="en-US" dirty="0" err="1"/>
              <a:t>EventBridge</a:t>
            </a:r>
            <a:r>
              <a:rPr lang="en-US" dirty="0"/>
              <a:t>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AWS Glue used for ingestion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Supports large files (&gt;100MB)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Data stored in S3 (Raw Zone)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2651F1-9AFC-6D69-C70B-4A58DE64CA77}"/>
              </a:ext>
            </a:extLst>
          </p:cNvPr>
          <p:cNvSpPr/>
          <p:nvPr/>
        </p:nvSpPr>
        <p:spPr>
          <a:xfrm>
            <a:off x="6104040" y="655199"/>
            <a:ext cx="5614263" cy="257312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DA291C"/>
                </a:solidFill>
                <a:latin typeface="Aptos"/>
                <a:ea typeface="+mj-ea"/>
                <a:cs typeface="+mj-cs"/>
              </a:rPr>
              <a:t>Ingestion Security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Platform deployed in Private VPC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NAT Gateway used for outbound internet access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No direct public access to internal systems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S3: IAM roles with least Privilege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Block public access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Enable encryption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970E319-D888-8F82-DCC9-089BD499310E}"/>
              </a:ext>
            </a:extLst>
          </p:cNvPr>
          <p:cNvSpPr/>
          <p:nvPr/>
        </p:nvSpPr>
        <p:spPr>
          <a:xfrm>
            <a:off x="222354" y="3453164"/>
            <a:ext cx="5304699" cy="3216066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DA291C"/>
                </a:solidFill>
                <a:latin typeface="Aptos"/>
                <a:ea typeface="+mj-ea"/>
                <a:cs typeface="+mj-cs"/>
              </a:rPr>
              <a:t>Data Processing &amp; Data Exploitation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AWS Glue transforms raw data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Cleansing and formatting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Convert to Parquet format</a:t>
            </a:r>
            <a:r>
              <a:rPr lang="en-US" dirty="0"/>
              <a:t>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Store in S3 (Processed Zone)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AWS Glue Data Catalog manages metadata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Athena queries data directly from S3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Tableau used for dashboards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90D7165-74F8-12F1-6AD4-D8B48450FE8F}"/>
              </a:ext>
            </a:extLst>
          </p:cNvPr>
          <p:cNvSpPr/>
          <p:nvPr/>
        </p:nvSpPr>
        <p:spPr>
          <a:xfrm>
            <a:off x="6104041" y="3453166"/>
            <a:ext cx="5614261" cy="3227969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 dirty="0"/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rgbClr val="DA291C"/>
                </a:solidFill>
                <a:latin typeface="Aptos"/>
                <a:ea typeface="+mj-ea"/>
                <a:cs typeface="+mj-cs"/>
              </a:rPr>
              <a:t>Security Challenges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Athena requires public endpoint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Tableau connects via Athena</a:t>
            </a:r>
            <a:r>
              <a:rPr lang="en-US" dirty="0"/>
              <a:t> </a:t>
            </a:r>
            <a:r>
              <a:rPr lang="en-US"/>
              <a:t>driver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Risk: data exposure over internet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rgbClr val="DA291C"/>
                </a:solidFill>
                <a:latin typeface="Aptos"/>
                <a:ea typeface="+mj-ea"/>
                <a:cs typeface="+mj-cs"/>
              </a:rPr>
              <a:t>Solution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dirty="0"/>
              <a:t>Use VPC Endpoint (AWS </a:t>
            </a:r>
            <a:r>
              <a:rPr lang="en-US" dirty="0" err="1"/>
              <a:t>PrivateLink</a:t>
            </a:r>
            <a:r>
              <a:rPr lang="en-US" dirty="0"/>
              <a:t>)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Tableau hosted inside VPC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Private communication with Athena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/>
              <a:t>No internet exposure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dirty="0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BAB41A2-4801-CF25-CAC8-C2D7029E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12" y="-70252"/>
            <a:ext cx="10515600" cy="72278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DA291C"/>
                </a:solidFill>
                <a:latin typeface="Aptos"/>
              </a:rPr>
              <a:t>Data Ingestion, </a:t>
            </a:r>
            <a:r>
              <a:rPr lang="en-US" sz="3200" b="1">
                <a:solidFill>
                  <a:srgbClr val="DA291C"/>
                </a:solidFill>
                <a:latin typeface="Aptos"/>
              </a:rPr>
              <a:t>Security, Challenges &amp; Solution</a:t>
            </a:r>
            <a:endParaRPr lang="en-US" sz="3200" b="1" dirty="0">
              <a:solidFill>
                <a:srgbClr val="DA291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5138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2327F-B945-5765-D604-0E430C38F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A2B8C5-B515-DFDE-A803-3CB8923DDAFF}"/>
              </a:ext>
            </a:extLst>
          </p:cNvPr>
          <p:cNvSpPr/>
          <p:nvPr/>
        </p:nvSpPr>
        <p:spPr>
          <a:xfrm>
            <a:off x="11174" y="-1199"/>
            <a:ext cx="12182003" cy="68874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53F47B-799F-D439-5F39-C864B52327CC}"/>
              </a:ext>
            </a:extLst>
          </p:cNvPr>
          <p:cNvSpPr/>
          <p:nvPr/>
        </p:nvSpPr>
        <p:spPr>
          <a:xfrm>
            <a:off x="222354" y="940945"/>
            <a:ext cx="5304699" cy="5728285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 dirty="0">
                <a:solidFill>
                  <a:srgbClr val="DA291C"/>
                </a:solidFill>
                <a:latin typeface="Aptos"/>
                <a:ea typeface="+mj-ea"/>
                <a:cs typeface="+mj-cs"/>
              </a:rPr>
              <a:t>Networ</a:t>
            </a:r>
            <a:r>
              <a:rPr lang="en-US" sz="2000" b="1">
                <a:solidFill>
                  <a:srgbClr val="DA291C"/>
                </a:solidFill>
              </a:rPr>
              <a:t>k</a:t>
            </a:r>
            <a:r>
              <a:rPr lang="en-US" sz="2000" b="1">
                <a:solidFill>
                  <a:srgbClr val="DA291C"/>
                </a:solidFill>
                <a:latin typeface="Aptos"/>
                <a:ea typeface="+mj-ea"/>
                <a:cs typeface="+mj-cs"/>
              </a:rPr>
              <a:t> Architecture</a:t>
            </a:r>
            <a:endParaRPr lang="en-US"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VPC with: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Private Subnet → Glue, Tableau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Public Subnet → NAT Gateway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VPC Endpoints: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S3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Athena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rgbClr val="DA291C"/>
                </a:solidFill>
                <a:latin typeface="Aptos"/>
                <a:ea typeface="+mj-ea"/>
                <a:cs typeface="+mj-cs"/>
              </a:rPr>
              <a:t>Scalability &amp; Performance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S3 → unlimited storage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Glue → auto scaling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Athena → serverless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Optimizations: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Parquet format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>
                <a:solidFill>
                  <a:schemeClr val="bg1"/>
                </a:solidFill>
              </a:rPr>
              <a:t>Partitioning (year/month)</a:t>
            </a:r>
          </a:p>
        </p:txBody>
      </p:sp>
      <p:pic>
        <p:nvPicPr>
          <p:cNvPr id="7" name="Picture 6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68970C3B-4912-CF7E-3031-3F6CC7E5B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871" y="-6645"/>
            <a:ext cx="1531147" cy="50482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4586E7-B408-89D2-F925-C896190554AC}"/>
              </a:ext>
            </a:extLst>
          </p:cNvPr>
          <p:cNvSpPr/>
          <p:nvPr/>
        </p:nvSpPr>
        <p:spPr>
          <a:xfrm>
            <a:off x="6318353" y="940946"/>
            <a:ext cx="5304699" cy="5728284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DA291C"/>
                </a:solidFill>
                <a:latin typeface="Aptos"/>
                <a:ea typeface="+mj-ea"/>
                <a:cs typeface="+mj-cs"/>
              </a:rPr>
              <a:t>Security Design</a:t>
            </a:r>
            <a:endParaRPr lang="en-US">
              <a:ea typeface="+mj-ea"/>
              <a:cs typeface="+mj-cs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Private network (VPC)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Encryption (S3)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IAM roles (least privilege)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>
                <a:solidFill>
                  <a:schemeClr val="bg1"/>
                </a:solidFill>
              </a:rPr>
              <a:t>No public access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b="1">
                <a:solidFill>
                  <a:srgbClr val="DA291C"/>
                </a:solidFill>
                <a:latin typeface="Aptos"/>
                <a:ea typeface="+mj-ea"/>
                <a:cs typeface="+mj-cs"/>
              </a:rPr>
              <a:t>Assumptions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000">
                <a:solidFill>
                  <a:schemeClr val="bg1"/>
                </a:solidFill>
              </a:rPr>
              <a:t>Batch ingestion (daily)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000">
                <a:solidFill>
                  <a:schemeClr val="bg1"/>
                </a:solidFill>
              </a:rPr>
              <a:t>No real-time processing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000">
                <a:solidFill>
                  <a:schemeClr val="bg1"/>
                </a:solidFill>
              </a:rPr>
              <a:t>Tableau hosted in AWS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000">
                <a:solidFill>
                  <a:schemeClr val="bg1"/>
                </a:solidFill>
              </a:rPr>
              <a:t>Data volume increases over time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000">
                <a:solidFill>
                  <a:schemeClr val="bg1"/>
                </a:solidFill>
              </a:rPr>
              <a:t>Athena sufficient for analytic</a:t>
            </a:r>
            <a:r>
              <a:rPr lang="en-US" sz="2600">
                <a:solidFill>
                  <a:srgbClr val="000000"/>
                </a:solidFill>
              </a:rPr>
              <a:t>s</a:t>
            </a:r>
            <a:endParaRPr lang="en-US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8D6C0EE6-00BB-D42C-7F47-8FE24025A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12" y="-70252"/>
            <a:ext cx="10515600" cy="722787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DA291C"/>
                </a:solidFill>
                <a:latin typeface="Aptos"/>
              </a:rPr>
              <a:t>Network Architecture &amp; Security Design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43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7ADA-8FD6-9C64-37CD-49933D527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E873FB-09D8-ED17-0945-EFD63244BCD2}"/>
              </a:ext>
            </a:extLst>
          </p:cNvPr>
          <p:cNvSpPr/>
          <p:nvPr/>
        </p:nvSpPr>
        <p:spPr>
          <a:xfrm>
            <a:off x="11174" y="-1199"/>
            <a:ext cx="12182003" cy="68874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0674D-BF01-EBA8-199F-38EEAFEF7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44" y="1094902"/>
            <a:ext cx="10515600" cy="52725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000000"/>
                </a:solidFill>
                <a:latin typeface="Aptos"/>
              </a:rPr>
              <a:t>Secure and scalable AWS architecture </a:t>
            </a:r>
            <a:endParaRPr lang="en-US"/>
          </a:p>
          <a:p>
            <a:r>
              <a:rPr lang="en-US">
                <a:solidFill>
                  <a:srgbClr val="000000"/>
                </a:solidFill>
                <a:latin typeface="Aptos"/>
              </a:rPr>
              <a:t>Supports large-scale ingestion </a:t>
            </a:r>
          </a:p>
          <a:p>
            <a:r>
              <a:rPr lang="en-US">
                <a:solidFill>
                  <a:srgbClr val="000000"/>
                </a:solidFill>
                <a:latin typeface="Aptos"/>
              </a:rPr>
              <a:t>Enables private and efficient analytics </a:t>
            </a:r>
          </a:p>
          <a:p>
            <a:r>
              <a:rPr lang="en-US">
                <a:solidFill>
                  <a:srgbClr val="000000"/>
                </a:solidFill>
                <a:latin typeface="Aptos"/>
              </a:rPr>
              <a:t>Meets enterprise data platform requirements</a:t>
            </a:r>
            <a:endParaRPr lang="en-US"/>
          </a:p>
          <a:p>
            <a:pPr marL="0" indent="0">
              <a:spcBef>
                <a:spcPct val="0"/>
              </a:spcBef>
              <a:buNone/>
            </a:pPr>
            <a:endParaRPr lang="en-US" sz="4000" dirty="0">
              <a:latin typeface="Aptos"/>
            </a:endParaRPr>
          </a:p>
          <a:p>
            <a:pPr marL="0" indent="0">
              <a:spcBef>
                <a:spcPct val="0"/>
              </a:spcBef>
              <a:buNone/>
            </a:pPr>
            <a:endParaRPr lang="en-US" sz="4000" dirty="0">
              <a:latin typeface="Aptos Display"/>
            </a:endParaRP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3D0945-46FF-60FF-9F88-4EC3FF833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12" y="1185"/>
            <a:ext cx="10515600" cy="722787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rgbClr val="DA291C"/>
                </a:solidFill>
                <a:latin typeface="Aptos"/>
              </a:rPr>
              <a:t>Conclusion</a:t>
            </a:r>
          </a:p>
        </p:txBody>
      </p:sp>
      <p:pic>
        <p:nvPicPr>
          <p:cNvPr id="7" name="Picture 6" descr="Black text on a white background&#10;&#10;AI-generated content may be incorrect.">
            <a:extLst>
              <a:ext uri="{FF2B5EF4-FFF2-40B4-BE49-F238E27FC236}">
                <a16:creationId xmlns:a16="http://schemas.microsoft.com/office/drawing/2014/main" id="{9B3B2944-B88E-9DA8-3AF6-546E8FF2A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871" y="-6645"/>
            <a:ext cx="1531147" cy="504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HDB Data Engineering Project </vt:lpstr>
      <vt:lpstr>Background</vt:lpstr>
      <vt:lpstr>PowerPoint Presentation</vt:lpstr>
      <vt:lpstr>Data Ingestion, Security, Challenges &amp; Solution</vt:lpstr>
      <vt:lpstr>Network Architecture &amp; Security Design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685</cp:revision>
  <dcterms:created xsi:type="dcterms:W3CDTF">2026-04-27T08:06:03Z</dcterms:created>
  <dcterms:modified xsi:type="dcterms:W3CDTF">2026-05-01T07:15:53Z</dcterms:modified>
</cp:coreProperties>
</file>